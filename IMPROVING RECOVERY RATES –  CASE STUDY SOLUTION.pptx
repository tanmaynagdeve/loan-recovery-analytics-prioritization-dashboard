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1"/>
  </p:notesMasterIdLst>
  <p:sldIdLst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A58CDC-A1EE-4159-81EA-CD7ED7C86ED2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81E9D6-CAC2-4661-97BD-CDBA12D6B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59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81E9D6-CAC2-4661-97BD-CDBA12D6BBB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187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293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98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33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61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80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77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70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30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82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1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peak Pro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639097"/>
            <a:ext cx="5100050" cy="3494791"/>
          </a:xfrm>
        </p:spPr>
        <p:txBody>
          <a:bodyPr>
            <a:normAutofit/>
          </a:bodyPr>
          <a:lstStyle/>
          <a:p>
            <a:r>
              <a:rPr lang="en-US" sz="4400" dirty="0"/>
              <a:t>IMPROVING RECOVERY RATES –  CASE STUDY 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9999" y="4455621"/>
            <a:ext cx="4829101" cy="1238616"/>
          </a:xfrm>
        </p:spPr>
        <p:txBody>
          <a:bodyPr>
            <a:normAutofit/>
          </a:bodyPr>
          <a:lstStyle/>
          <a:p>
            <a:r>
              <a:rPr lang="en-US" dirty="0"/>
              <a:t>TANMAY NAGDEVE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0CBE3-3F91-419A-A649-32AB388EC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0"/>
            <a:ext cx="6096000" cy="685799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91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042F5-AD5C-4A8A-6C5E-91BDB4B7B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DC782-3C36-7F47-DA5D-8F88D57B9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  ~71% accounts fall in Low Recovery (DPD 90+).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    Recovery Rates:</a:t>
            </a:r>
          </a:p>
          <a:p>
            <a:pPr marL="0" indent="0">
              <a:buNone/>
            </a:pPr>
            <a:r>
              <a:rPr lang="en-US" b="1" dirty="0"/>
              <a:t>	    High → 20%</a:t>
            </a:r>
          </a:p>
          <a:p>
            <a:pPr marL="0" indent="0">
              <a:buNone/>
            </a:pPr>
            <a:r>
              <a:rPr lang="en-US" b="1" dirty="0"/>
              <a:t>                Medium → 13%</a:t>
            </a:r>
          </a:p>
          <a:p>
            <a:pPr marL="0" indent="0">
              <a:buNone/>
            </a:pPr>
            <a:r>
              <a:rPr lang="en-US" b="1" dirty="0"/>
              <a:t>                Low →  4.5%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  Medium Recovery segment holds ₹652M (highest outstanding amount).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  Even customers with good history fall into low recovery → DPD alone is insufficient.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68016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776DB5-3366-E3E5-9788-C9A6EF213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7" y="0"/>
            <a:ext cx="121616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39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3A8D6-4F60-C7E0-CBBE-A85A592DD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5" y="263528"/>
            <a:ext cx="11601450" cy="1450757"/>
          </a:xfrm>
        </p:spPr>
        <p:txBody>
          <a:bodyPr/>
          <a:lstStyle/>
          <a:p>
            <a:r>
              <a:rPr lang="en-IN" dirty="0"/>
              <a:t>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44A99-480B-3D1F-70DE-D04BC8D22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51" y="2108201"/>
            <a:ext cx="11601450" cy="3760891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2AFD8F-2285-0FF2-75E5-7470F02A87E8}"/>
              </a:ext>
            </a:extLst>
          </p:cNvPr>
          <p:cNvSpPr txBox="1"/>
          <p:nvPr/>
        </p:nvSpPr>
        <p:spPr>
          <a:xfrm>
            <a:off x="171452" y="2413337"/>
            <a:ext cx="4086224" cy="203132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/>
              <a:t>Account Prioritization</a:t>
            </a:r>
          </a:p>
          <a:p>
            <a:endParaRPr lang="en-US" dirty="0"/>
          </a:p>
          <a:p>
            <a:r>
              <a:rPr lang="en-US" dirty="0"/>
              <a:t>Low Recovery →High Risk (NPAs)</a:t>
            </a:r>
          </a:p>
          <a:p>
            <a:endParaRPr lang="en-US" dirty="0"/>
          </a:p>
          <a:p>
            <a:r>
              <a:rPr lang="en-US" dirty="0"/>
              <a:t>Medium Recovery → Highest Opportunity</a:t>
            </a:r>
          </a:p>
          <a:p>
            <a:endParaRPr lang="en-US" dirty="0"/>
          </a:p>
          <a:p>
            <a:r>
              <a:rPr lang="en-US" dirty="0"/>
              <a:t>High Recovery → Low effort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231F73-6468-F648-0690-87318DD1B7BA}"/>
              </a:ext>
            </a:extLst>
          </p:cNvPr>
          <p:cNvSpPr txBox="1"/>
          <p:nvPr/>
        </p:nvSpPr>
        <p:spPr>
          <a:xfrm>
            <a:off x="4371976" y="2413337"/>
            <a:ext cx="3729037" cy="258532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/>
              <a:t>Channel Strategy (Outcome-Based)</a:t>
            </a:r>
          </a:p>
          <a:p>
            <a:endParaRPr lang="en-US" u="sng" dirty="0"/>
          </a:p>
          <a:p>
            <a:r>
              <a:rPr lang="en-US" dirty="0"/>
              <a:t>Refused → Legal + Field</a:t>
            </a:r>
          </a:p>
          <a:p>
            <a:endParaRPr lang="en-US" dirty="0"/>
          </a:p>
          <a:p>
            <a:r>
              <a:rPr lang="en-US" dirty="0"/>
              <a:t>No Response → Call + Field</a:t>
            </a:r>
          </a:p>
          <a:p>
            <a:endParaRPr lang="en-US" dirty="0"/>
          </a:p>
          <a:p>
            <a:r>
              <a:rPr lang="en-US" dirty="0"/>
              <a:t>Promised → Follow-ups</a:t>
            </a:r>
          </a:p>
          <a:p>
            <a:endParaRPr lang="en-US" dirty="0"/>
          </a:p>
          <a:p>
            <a:r>
              <a:rPr lang="en-US" dirty="0"/>
              <a:t>High Recovery → SMS / Calls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7A725D-20C6-912F-1150-7E65534D437E}"/>
              </a:ext>
            </a:extLst>
          </p:cNvPr>
          <p:cNvSpPr txBox="1"/>
          <p:nvPr/>
        </p:nvSpPr>
        <p:spPr>
          <a:xfrm>
            <a:off x="8215313" y="2413336"/>
            <a:ext cx="3216565" cy="203132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/>
              <a:t>Resource Optimization</a:t>
            </a:r>
          </a:p>
          <a:p>
            <a:endParaRPr lang="en-US" dirty="0"/>
          </a:p>
          <a:p>
            <a:r>
              <a:rPr lang="en-US" dirty="0"/>
              <a:t>Legal &amp; Field → Only high-risk accounts</a:t>
            </a:r>
          </a:p>
          <a:p>
            <a:endParaRPr lang="en-US" dirty="0"/>
          </a:p>
          <a:p>
            <a:r>
              <a:rPr lang="en-US" dirty="0"/>
              <a:t>Calls/SMS → Medium &amp; High segments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4533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7EB8D-3243-E501-ED87-AE162C236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Expected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7CA51-C872-5983-A664-21669044A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600" dirty="0"/>
              <a:t>Focus on ₹652M Medium segment → highest ROI</a:t>
            </a:r>
          </a:p>
          <a:p>
            <a:r>
              <a:rPr lang="en-IN" sz="1600" dirty="0"/>
              <a:t>Prevent Medium → Low slippage</a:t>
            </a:r>
          </a:p>
          <a:p>
            <a:r>
              <a:rPr lang="en-IN" sz="1600" dirty="0"/>
              <a:t>Apply targeted legal/field actions for low recovery accounts.</a:t>
            </a:r>
          </a:p>
          <a:p>
            <a:r>
              <a:rPr lang="en-IN" sz="1600" b="1" u="sng" dirty="0"/>
              <a:t>Business Outcomes:</a:t>
            </a:r>
          </a:p>
          <a:p>
            <a:r>
              <a:rPr lang="en-IN" sz="1600" dirty="0"/>
              <a:t>Improved overall recovery rate</a:t>
            </a:r>
          </a:p>
          <a:p>
            <a:r>
              <a:rPr lang="en-IN" sz="1600" dirty="0"/>
              <a:t>Better agent productivity</a:t>
            </a:r>
          </a:p>
          <a:p>
            <a:r>
              <a:rPr lang="en-IN" sz="1600" dirty="0"/>
              <a:t>Reduced unnecessary legal/field costs</a:t>
            </a:r>
          </a:p>
          <a:p>
            <a:r>
              <a:rPr lang="en-IN" sz="1600" dirty="0"/>
              <a:t>Even a 5% improvement on ₹652M can generate ₹30M+ additional recovery</a:t>
            </a:r>
          </a:p>
        </p:txBody>
      </p:sp>
    </p:spTree>
    <p:extLst>
      <p:ext uri="{BB962C8B-B14F-4D97-AF65-F5344CB8AC3E}">
        <p14:creationId xmlns:p14="http://schemas.microsoft.com/office/powerpoint/2010/main" val="1284841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038B0-1F30-FA9E-EE6C-C9B8168EC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Supporting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C5A15-FA78-3590-6225-97C114201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Data-Driven Approach</a:t>
            </a:r>
          </a:p>
          <a:p>
            <a:r>
              <a:rPr lang="en-US" dirty="0"/>
              <a:t>Multi-factor scoring (DPD + Outcome + History + Income) Enables accurate prioritization.</a:t>
            </a:r>
          </a:p>
          <a:p>
            <a:r>
              <a:rPr lang="en-US" dirty="0"/>
              <a:t>Enables consistent and scalable decision-making.</a:t>
            </a:r>
          </a:p>
          <a:p>
            <a:r>
              <a:rPr lang="en-US" dirty="0"/>
              <a:t>Reduces dependency on manual judgement.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736798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Retrospect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3CD65D-61A5-43C9-A837-6EC73C7DA8A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377351-63A1-4C2E-8C9A-66CDD70F1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{57FECEE2-716A-4610-BBE9-8C2F01E2972B}TF235124e3-e6db-4c6d-93c8-733f2fadbc609fb6f57c_win32-b1e91d96f19e</Template>
  <TotalTime>38</TotalTime>
  <Words>225</Words>
  <Application>Microsoft Office PowerPoint</Application>
  <PresentationFormat>Widescreen</PresentationFormat>
  <Paragraphs>47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Georgia Pro Cond Light</vt:lpstr>
      <vt:lpstr>Speak Pro</vt:lpstr>
      <vt:lpstr>Wingdings</vt:lpstr>
      <vt:lpstr>RetrospectVTI</vt:lpstr>
      <vt:lpstr>IMPROVING RECOVERY RATES –  CASE STUDY SOLUTION</vt:lpstr>
      <vt:lpstr>Key Insights</vt:lpstr>
      <vt:lpstr>PowerPoint Presentation</vt:lpstr>
      <vt:lpstr>Strategy</vt:lpstr>
      <vt:lpstr>Expected Impact</vt:lpstr>
      <vt:lpstr>Supporting Approach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Tanmay Nagdeve</dc:creator>
  <cp:lastModifiedBy>Tanmay Nagdeve</cp:lastModifiedBy>
  <cp:revision>11</cp:revision>
  <dcterms:created xsi:type="dcterms:W3CDTF">2026-03-29T22:15:00Z</dcterms:created>
  <dcterms:modified xsi:type="dcterms:W3CDTF">2026-03-29T22:57:19Z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